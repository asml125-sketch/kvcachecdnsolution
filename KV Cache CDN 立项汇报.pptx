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93268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 · KV CACHE CDN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1353312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 </a:t>
            </a:r>
            <a:pPr algn="ctr" indent="0" marL="0">
              <a:buNone/>
            </a:pPr>
            <a:r>
              <a:rPr lang="en-US" sz="52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0" y="24871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KV Cache 当作内容资产来运营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3127248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面向长上下文与多模型 Agent 时代的 LLM 推理基础设施 —— 用调度、数据形态与经济学三件事，把显存墙与地理墙化成一个 CDN 问题来解。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160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向公司高层汇报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为什么推理问题变成了 CDN 问题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"/>
            <a:ext cx="77724" cy="42062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为什么推理问题变成了 CDN 问题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2144" y="6217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四股力量，把 KV Cache 从引擎内存逼成了内容资产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932688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" y="1069848"/>
            <a:ext cx="137160" cy="13716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经济学驱动 · 成本黑洞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1335024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是算力吞噬者：重复算公共前缀浪费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30–70%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，复用是降 TCO 唯一出路；回源代价是传统 CDN 的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100–1000×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" y="206654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类比：每个用户都重算一遍「同一个开场白」，就是烧钱。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932688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1069848"/>
            <a:ext cx="137160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性能驱动 · 延迟灾难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1335024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4K→128K→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1M+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，Prefill 从毫秒级跃升到数十秒（100K token ≈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），摧毁交互式应用体验。唯一解法「空间换时间」。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066544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类比：每次提问先「发呆」十几秒，产品必被弃用。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" y="2606040"/>
            <a:ext cx="137160" cy="137160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局部方案失效 · 三堵墙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" y="2871216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单集群前缀缓存：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显存容量墙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冷热驱逐墙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（计算—驱逐—再计算）、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数据孤岛墙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 算过 B 无法复用）。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" y="360273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类比：单机显存是「水杯」，KV 是「消防栓」，一开就溢出。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9744" y="2606040"/>
            <a:ext cx="137160" cy="137160"/>
          </a:xfrm>
          <a:prstGeom prst="rect">
            <a:avLst/>
          </a:prstGeom>
          <a:solidFill>
            <a:srgbClr val="2F9E5F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网络统计学驱动 · 统计复用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9744" y="2871216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长尾汇聚成全局热点最大化命中率；成本差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2–5×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时区潮汐，夜间源站 Prefill、白天边缘 Decode。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9744" y="360273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类比：闲置算力变成「夜间的 Prefill 工厂」。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059936"/>
            <a:ext cx="8229600" cy="621792"/>
          </a:xfrm>
          <a:prstGeom prst="rect">
            <a:avLst/>
          </a:prstGeom>
          <a:solidFill>
            <a:srgbClr val="FEF4F4"/>
          </a:solidFill>
          <a:ln w="12700">
            <a:solidFill>
              <a:srgbClr val="FEF4F4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59936"/>
            <a:ext cx="64008" cy="621792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05993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「问题成立，不等于『用带宽硬传』的解法成立。正确路径是 </a:t>
            </a:r>
            <a:pPr indent="0" marL="0">
              <a:buNone/>
            </a:pPr>
            <a:r>
              <a:rPr lang="en-US" sz="12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范式重构</a:t>
            </a:r>
            <a:pPr indent="0" marL="0">
              <a:buNone/>
            </a:pPr>
            <a:r>
              <a:rPr lang="en-US" sz="1250" b="1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把 KV Cache 当作内容资产来运营。」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业界研究热点与技术演进方向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"/>
            <a:ext cx="77724" cy="42062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业界推理研究的热点与技术演进方向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2144" y="6217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全球共识：这正是所有头部玩家的共同方向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1517904"/>
            <a:ext cx="7863840" cy="0"/>
          </a:xfrm>
          <a:prstGeom prst="line">
            <a:avLst/>
          </a:prstGeom>
          <a:noFill/>
          <a:ln w="31750">
            <a:solidFill>
              <a:srgbClr val="D8DB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877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本地分页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1338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87552" y="1453896"/>
            <a:ext cx="128016" cy="128016"/>
          </a:xfrm>
          <a:prstGeom prst="ellipse">
            <a:avLst/>
          </a:prstGeom>
          <a:solidFill>
            <a:srgbClr val="C7CCD4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· 消除显存碎片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28800" y="877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前缀复用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11338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2032" y="1453896"/>
            <a:ext cx="128016" cy="128016"/>
          </a:xfrm>
          <a:prstGeom prst="ellipse">
            <a:avLst/>
          </a:prstGeom>
          <a:solidFill>
            <a:srgbClr val="C7CCD4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SGLang · 相同前缀只算一次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877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 分离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1338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96512" y="1453896"/>
            <a:ext cx="128016" cy="128016"/>
          </a:xfrm>
          <a:prstGeom prst="ellipse">
            <a:avLst/>
          </a:prstGeom>
          <a:solidFill>
            <a:srgbClr val="C7CCD4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DistServe · Prefill/Decode 分置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0" y="877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集群池化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11338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50992" y="1453896"/>
            <a:ext cx="128016" cy="128016"/>
          </a:xfrm>
          <a:prstGeom prst="ellipse">
            <a:avLst/>
          </a:prstGeom>
          <a:solidFill>
            <a:srgbClr val="C7CCD4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Mooncake · 三级池 · 吞吐 +525%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995160" y="8778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 CDN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11338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0" y="1426464"/>
            <a:ext cx="182880" cy="182880"/>
          </a:xfrm>
          <a:prstGeom prst="ellipse">
            <a:avLst/>
          </a:prstGeom>
          <a:solidFill>
            <a:srgbClr val="C7000B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1664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PrfaaS / Internet for KV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03720" y="1975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本方案所处时代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2340864"/>
            <a:ext cx="26791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85216" y="24140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 分离成为默认架构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" y="268833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Prefill 与 Decode 分池部署已成工业共识。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5216" y="318211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· UCSD · Microsoft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32404" y="2340864"/>
            <a:ext cx="26791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60420" y="24140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集群级 KV 池化进入生产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60420" y="268833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三级池多处理 115% 请求。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60420" y="318211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Moonshot · 华为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07608" y="2340864"/>
            <a:ext cx="26791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35624" y="24140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网络层成型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35624" y="2688336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 3.5–4.3× · 位置无关 · SmartNIC 卸载。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35624" y="318211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UChicago · Moonshot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3566160"/>
            <a:ext cx="26791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85216" y="363931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跨数据中心绝对前沿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85216" y="391363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 +54%，P90 TTFT −64%。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5216" y="44074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PrfaaS · Internet for KV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32404" y="3566160"/>
            <a:ext cx="267919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360420" y="363931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× 系统协同设计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360420" y="391363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Linear 把 KV 吞吐压低 4–36×。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60420" y="44074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Moonshot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07608" y="3566160"/>
            <a:ext cx="2679192" cy="1097280"/>
          </a:xfrm>
          <a:prstGeom prst="rect">
            <a:avLst/>
          </a:prstGeom>
          <a:solidFill>
            <a:srgbClr val="FEF4F4"/>
          </a:solidFill>
          <a:ln w="15240">
            <a:solidFill>
              <a:srgbClr val="C7000B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135624" y="3639312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 12–18 个月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135624" y="391363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全球仅 2–3 个团队在做跨机房 KV 分发，先发即占标准。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135624" y="440740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战略卡位点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方案可行性分析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"/>
            <a:ext cx="77724" cy="42062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方案可行性 —— 关键结论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2144" y="6217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四条线测算：可行性成立，瓶颈在工程化与标准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932688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" y="1069848"/>
            <a:ext cx="137160" cy="137160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时间可行 · 拉取 vs 重算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1335024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100G 专线 + 4× 压缩：拉取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vs 本地重算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10s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11× 更快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；1G 公网则 80s 灾难。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" y="202996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结论：「带宽×压缩」须胜过「字节×算力」；模型架构是第一杠杆。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932688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9744" y="1069848"/>
            <a:ext cx="137160" cy="137160"/>
          </a:xfrm>
          <a:prstGeom prst="rect">
            <a:avLst/>
          </a:prstGeom>
          <a:solidFill>
            <a:srgbClr val="2F9E5F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解码收敛 · 向边缘移动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1335024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流式生成中 RTT 只加一次性偏移、不钳吞吐；多轮 Agent 循环按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K×RTT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累积。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9744" y="202996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结论：两层拓扑（中心+区域）更优，L0 仅语音/合规/隔离加密。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" y="2606040"/>
            <a:ext cx="137160" cy="137160"/>
          </a:xfrm>
          <a:prstGeom prst="rect">
            <a:avLst/>
          </a:prstGeom>
          <a:solidFill>
            <a:srgbClr val="E08A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 · 三条线就位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" y="2871216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模型侧（MLA/混合）、系统侧（池化/压缩/PIC）、硬件侧（CXL/SmartNIC）均已成熟。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" y="356616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Mooncake +525%/115% · PrfaaS +54%/−64% · LMCache +15×。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2468880"/>
            <a:ext cx="4023360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9744" y="2606040"/>
            <a:ext cx="137160" cy="137160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2542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 · 场景成立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9744" y="2871216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批发带宽单请求成本降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64%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、潮汐卸载降 </a:t>
            </a:r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55%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；混合架构下零售带宽也成立。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9744" y="356616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结论：完整形态 TCO −30~45%；边界：长上下文&gt;20%、复用率&gt;30%。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059936"/>
            <a:ext cx="8229600" cy="621792"/>
          </a:xfrm>
          <a:prstGeom prst="rect">
            <a:avLst/>
          </a:prstGeom>
          <a:solidFill>
            <a:srgbClr val="FEF4F4"/>
          </a:solidFill>
          <a:ln w="12700">
            <a:solidFill>
              <a:srgbClr val="FEF4F4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059936"/>
            <a:ext cx="64008" cy="621792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05993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可行性结论：</a:t>
            </a:r>
            <a:pPr indent="0" marL="0">
              <a:buNone/>
            </a:pPr>
            <a:r>
              <a:rPr lang="en-US" sz="12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</a:t>
            </a:r>
            <a:pPr indent="0" marL="0">
              <a:buNone/>
            </a:pPr>
            <a:r>
              <a:rPr lang="en-US" sz="1250" b="1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三条技术线就位、无不可逾越障碍；</a:t>
            </a:r>
            <a:pPr indent="0" marL="0">
              <a:buNone/>
            </a:pPr>
            <a:r>
              <a:rPr lang="en-US" sz="12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瓶颈在工程化与标准</a:t>
            </a:r>
            <a:pPr indent="0" marL="0">
              <a:buNone/>
            </a:pPr>
            <a:r>
              <a:rPr lang="en-US" sz="1250" b="1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，正是可卡位的窗口。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 · 做什么 · 怎么做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"/>
            <a:ext cx="77724" cy="42062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 · 做什么 · 怎么做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2144" y="6217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先划边界 → 定动作 → 再讲清凭什么的创新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8778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不做什么（两条红线）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115568"/>
            <a:ext cx="4023360" cy="512064"/>
          </a:xfrm>
          <a:prstGeom prst="rect">
            <a:avLst/>
          </a:prstGeom>
          <a:solidFill>
            <a:srgbClr val="FEF4F4"/>
          </a:solidFill>
          <a:ln w="12700">
            <a:solidFill>
              <a:srgbClr val="FEF4F4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115568"/>
            <a:ext cx="54864" cy="5120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111556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不做「WAN 上实时硬传几十 GB 完整 KV」——1 Gbps 下 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80s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，灾难（§1.5 测算）。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023360" cy="512064"/>
          </a:xfrm>
          <a:prstGeom prst="rect">
            <a:avLst/>
          </a:prstGeom>
          <a:solidFill>
            <a:srgbClr val="FEF4F4"/>
          </a:solidFill>
          <a:ln w="12700">
            <a:solidFill>
              <a:srgbClr val="FEF4F4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15568"/>
            <a:ext cx="54864" cy="51206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111556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不做「把缓存机械放各地」——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让请求找数据</a:t>
            </a:r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C12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（亲和路由）、预分发只在划算时发生（经济博弈）。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7739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做什么（核心五步：把 KV 当内容资产运营）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5727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066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生产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2860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 Prefill 算 KV、切段算指纹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67128" y="2011680"/>
            <a:ext cx="15727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258568" y="2066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上报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58568" y="22860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段+Hash+成本上报网关，累计热度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77056" y="2011680"/>
            <a:ext cx="15727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68496" y="2066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决策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68496" y="22860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准入评分+博弈，定段/时/节点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586984" y="2011680"/>
            <a:ext cx="15727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78424" y="2066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预分发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78424" y="22860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低谷异步推送高共享段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296912" y="2011680"/>
            <a:ext cx="1572768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88352" y="2066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消费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88352" y="228600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亲和命中，仅算增量、TTFT 秒级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7200" y="29626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 —— 三大创新点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200400"/>
            <a:ext cx="26791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85216" y="3310128"/>
            <a:ext cx="118872" cy="118872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86384" y="3255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缓存亲和性路由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" y="3675888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请求找数据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——按「复用程度 × SLA × 成本」路由到复用最多、最合适的节点（方式 b 直连）。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32404" y="3200400"/>
            <a:ext cx="26791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60420" y="3310128"/>
            <a:ext cx="118872" cy="118872"/>
          </a:xfrm>
          <a:prstGeom prst="rect">
            <a:avLst/>
          </a:prstGeom>
          <a:solidFill>
            <a:srgbClr val="2F9E5F"/>
          </a:solidFill>
          <a:ln/>
        </p:spPr>
      </p:sp>
      <p:sp>
        <p:nvSpPr>
          <p:cNvPr id="41" name="Text 39"/>
          <p:cNvSpPr/>
          <p:nvPr/>
        </p:nvSpPr>
        <p:spPr>
          <a:xfrm>
            <a:off x="3561588" y="3255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基于不同 KV 段的统计复用与分发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60420" y="3675888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按共享度切段、统计复用、差异化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预分发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——不同节点持不同段，命中即免重算。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07608" y="3200400"/>
            <a:ext cx="267919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35624" y="3310128"/>
            <a:ext cx="118872" cy="118872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45" name="Text 43"/>
          <p:cNvSpPr/>
          <p:nvPr/>
        </p:nvSpPr>
        <p:spPr>
          <a:xfrm>
            <a:off x="6336792" y="32552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经济与 SLA 博弈后的存算物理分离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35624" y="3675888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每次跨域先算账：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本节点推理 或 降级中心推理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，博弈结果外显可取证——算存彻底解耦。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总体架构与数据流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"/>
            <a:ext cx="77724" cy="42062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 —— 总体架构与数据流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2144" y="6217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落地路径清晰，各部件都有成熟对标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932688"/>
            <a:ext cx="1737360" cy="402336"/>
          </a:xfrm>
          <a:prstGeom prst="roundRect">
            <a:avLst>
              <a:gd name="adj" fmla="val 13636"/>
            </a:avLst>
          </a:prstGeom>
          <a:solidFill>
            <a:srgbClr val="FDF0F1"/>
          </a:solidFill>
          <a:ln w="19050">
            <a:solidFill>
              <a:srgbClr val="C700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9326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推理客户端 /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508760" y="1664208"/>
            <a:ext cx="2103120" cy="1005840"/>
          </a:xfrm>
          <a:prstGeom prst="rect">
            <a:avLst/>
          </a:prstGeom>
          <a:solidFill>
            <a:srgbClr val="FFFFFF"/>
          </a:solidFill>
          <a:ln w="22225">
            <a:solidFill>
              <a:srgbClr val="C7000B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1719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全局路由网关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64208" y="1975104"/>
            <a:ext cx="841248" cy="347472"/>
          </a:xfrm>
          <a:prstGeom prst="rect">
            <a:avLst/>
          </a:prstGeom>
          <a:solidFill>
            <a:srgbClr val="F6F7F9"/>
          </a:solidFill>
          <a:ln w="12700">
            <a:solidFill>
              <a:srgbClr val="C7C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197510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目录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96896" y="1975104"/>
            <a:ext cx="914400" cy="347472"/>
          </a:xfrm>
          <a:prstGeom prst="rect">
            <a:avLst/>
          </a:prstGeom>
          <a:solidFill>
            <a:srgbClr val="F6F7F9"/>
          </a:solidFill>
          <a:ln w="12700">
            <a:solidFill>
              <a:srgbClr val="C7C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19751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潮汐调度器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08760" y="2377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亲和路由 · 博弈 · 分发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15544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08A00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547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 Prefill DC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KV 段（源站）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840480" y="2907792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CD4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29626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区域缓存节点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1546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区域驻留（区域 POP）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3950208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CD4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0" y="40050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 Decode 节点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41970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就近命中 + Decode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40280" y="1335024"/>
            <a:ext cx="0" cy="329184"/>
          </a:xfrm>
          <a:prstGeom prst="line">
            <a:avLst/>
          </a:prstGeom>
          <a:noFill/>
          <a:ln w="22225">
            <a:solidFill>
              <a:srgbClr val="C7000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517904" y="13716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先查后连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 flipV="1">
            <a:off x="3063240" y="1335024"/>
            <a:ext cx="0" cy="329184"/>
          </a:xfrm>
          <a:prstGeom prst="line">
            <a:avLst/>
          </a:prstGeom>
          <a:noFill/>
          <a:ln w="22225">
            <a:solidFill>
              <a:srgbClr val="C7000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340864" y="13716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RouteGrant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 flipH="1">
            <a:off x="1325880" y="2670048"/>
            <a:ext cx="685800" cy="804672"/>
          </a:xfrm>
          <a:prstGeom prst="line">
            <a:avLst/>
          </a:prstGeom>
          <a:noFill/>
          <a:ln w="19050">
            <a:solidFill>
              <a:srgbClr val="7A838D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68680" y="28712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 / 分发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 flipV="1">
            <a:off x="1920240" y="3145536"/>
            <a:ext cx="1920240" cy="530352"/>
          </a:xfrm>
          <a:prstGeom prst="line">
            <a:avLst/>
          </a:prstGeom>
          <a:noFill/>
          <a:ln w="22225">
            <a:solidFill>
              <a:srgbClr val="E08A00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240280" y="32552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8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预分发 KV 段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3364992"/>
            <a:ext cx="0" cy="585216"/>
          </a:xfrm>
          <a:prstGeom prst="line">
            <a:avLst/>
          </a:prstGeom>
          <a:noFill/>
          <a:ln w="22225">
            <a:solidFill>
              <a:srgbClr val="E08A00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4709160" y="3566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08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 flipH="1" flipV="1">
            <a:off x="3630168" y="1335024"/>
            <a:ext cx="210312" cy="2615184"/>
          </a:xfrm>
          <a:prstGeom prst="line">
            <a:avLst/>
          </a:prstGeom>
          <a:noFill/>
          <a:ln w="28575">
            <a:solidFill>
              <a:srgbClr val="C7000B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785616" y="250545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TokenStream（直连返回）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932688"/>
          <a:ext cx="3154680" cy="914400"/>
        </p:xfrm>
        <a:graphic>
          <a:graphicData uri="http://schemas.openxmlformats.org/drawingml/2006/table">
            <a:tbl>
              <a:tblPr/>
              <a:tblGrid>
                <a:gridCol w="1078992"/>
                <a:gridCol w="1298448"/>
                <a:gridCol w="777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部件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对标 CDN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全局路由网关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亲和路由·博弈·分发（内置 KV 目录+潮汐调度器）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 DNS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中心 Prefill DC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生产 KV 段+兜底推理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源站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区域缓存节点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区域驻留（三级缓存）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 POP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边缘 Decode 节点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就近命中+Decode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边缘节点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WAN 传输加速层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压缩流式传输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回源链路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信任与验证引擎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防投毒校验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5623560" y="4297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图中节点与右侧部件一一对应；网关内嵌目录与调度器。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差异化对比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"/>
            <a:ext cx="77724" cy="42062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差异化对比 —— 我们与传统方案的本质区别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2144" y="6217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回答「为什么不用现有方案」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20240"/>
                <a:gridCol w="2743200"/>
                <a:gridCol w="2606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传统内容 CDN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KV Cache CDN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差异含义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缓存对象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静态文件（图片/视频）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模型绑定张量（须匹配版本/LoRA）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需版本化一致性管理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回源代价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仅带宽（拉文件）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昂贵算力 + 数十秒时间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命中价值高 100×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匹配粒度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URL 完整匹配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前缀/语义块部分匹配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部分命中也有收益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增量追加（前缀复用+后缀生成）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需流式拼接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404 / 文件损坏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静默的生成质量劣化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需校验与回退机制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71216"/>
          <a:ext cx="82296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148840"/>
                <a:gridCol w="2286000"/>
                <a:gridCol w="2743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现有推理框架 (vLLM/SGLang)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现有分离方案 (Mooncake/DistServe)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E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 KV Cache CDN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缓存范围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单节点/单集群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单数据中心集群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700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跨地域全局三级缓存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复用粒度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线性前缀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线性前缀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700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位置无关 + 跨模型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本地排队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集群内负载均衡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700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全局成本×延迟×潮汐×信任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算力来源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自有集群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700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 骨干 + P2P 长尾双模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生命周期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请求/会话级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C46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700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请求→会话→跨会话→持久 四级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0"/>
          </a:xfrm>
          <a:prstGeom prst="line">
            <a:avLst/>
          </a:prstGeom>
          <a:noFill/>
          <a:ln w="9525">
            <a:solidFill>
              <a:srgbClr val="E2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总结——创新点与价值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846320"/>
            <a:ext cx="2834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</a:t>
            </a:r>
            <a:pPr algn="r" indent="0" marL="0">
              <a:buNone/>
            </a:pPr>
            <a:r>
              <a:rPr lang="en-US" sz="8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|  </a:t>
            </a:r>
            <a:pPr algn="r" indent="0" marL="0">
              <a:buNone/>
            </a:pPr>
            <a:r>
              <a:rPr lang="en-US" sz="8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237744"/>
            <a:ext cx="77724" cy="420624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1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33856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—— 创新点与价值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52144" y="62179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三创新 · 两维价值论证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896112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1005840"/>
            <a:ext cx="118872" cy="118872"/>
          </a:xfrm>
          <a:prstGeom prst="rect">
            <a:avLst/>
          </a:prstGeom>
          <a:solidFill>
            <a:srgbClr val="1E6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9509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缓存亲和性路由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" y="13898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是什么：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全局网关像智能 DNS，按「复用程度 × SLA × 成本」把请求调度到“已算过这份上下文”的节点，客户端直连、不经网关转发。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216" y="206654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带来什么：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 级路由决策替代 GB 级 KV 传输，跨域硬传清零；命中节点只算增量，首字延迟 10s → 1–2s。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32404" y="896112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60420" y="1005840"/>
            <a:ext cx="118872" cy="118872"/>
          </a:xfrm>
          <a:prstGeom prst="rect">
            <a:avLst/>
          </a:prstGeom>
          <a:solidFill>
            <a:srgbClr val="2F9E5F"/>
          </a:solidFill>
          <a:ln/>
        </p:spPr>
      </p:sp>
      <p:sp>
        <p:nvSpPr>
          <p:cNvPr id="18" name="Text 16"/>
          <p:cNvSpPr/>
          <p:nvPr/>
        </p:nvSpPr>
        <p:spPr>
          <a:xfrm>
            <a:off x="3561588" y="9509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基于不同 KV 段的统计复用与分发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0420" y="13898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是什么：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把上下文按“多少人共用”切成独立寻址的段；统计每段命中、共享度与区域热度，高共享段低谷期提前分发到位。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60420" y="206654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带来什么：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 Prefill 多次消费，重复计算浪费降 30–70%；预分发成本不到单次硬传的 1/13。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07608" y="896112"/>
            <a:ext cx="26791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35624" y="1005840"/>
            <a:ext cx="118872" cy="118872"/>
          </a:xfrm>
          <a:prstGeom prst="rect">
            <a:avLst/>
          </a:prstGeom>
          <a:solidFill>
            <a:srgbClr val="C7000B"/>
          </a:solidFill>
          <a:ln/>
        </p:spPr>
      </p:sp>
      <p:sp>
        <p:nvSpPr>
          <p:cNvPr id="23" name="Text 21"/>
          <p:cNvSpPr/>
          <p:nvPr/>
        </p:nvSpPr>
        <p:spPr>
          <a:xfrm>
            <a:off x="6336792" y="9509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经济与 SLA 博弈后的存算物理分离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35624" y="138988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是什么：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每次推理前实时估算“本地重算 / 跨域拉取 / 降级中心”三条路的耗时与价格，对照 SLA 择优——本节点推理，或上移中心完成。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35624" y="2066544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带来什么：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宁可重算绝不死等，恶劣网络下 SLA 仍可承诺；算存解耦，边缘可用更便宜的专用硬件。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2852928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3108960"/>
            <a:ext cx="402336" cy="402336"/>
          </a:xfrm>
          <a:prstGeom prst="ellipse">
            <a:avLst/>
          </a:prstGeom>
          <a:solidFill>
            <a:srgbClr val="FDF0F1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294436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最终用户（ToC）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80360" y="2926080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：首字延迟 10s 级 → </a:t>
            </a:r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1s 内（11×）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，长上下文、多轮 Agent 问答不再「等待思考」，接近本地应用的流畅度；</a:t>
            </a:r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：推理成本下降传导为普惠定价，长上下文场景单次成本降 </a:t>
            </a:r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64%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，让用户「用得起」长上下文。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58768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19050" dir="8100000">
              <a:srgbClr val="1E293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" y="4114800"/>
            <a:ext cx="402336" cy="402336"/>
          </a:xfrm>
          <a:prstGeom prst="ellipse">
            <a:avLst/>
          </a:prstGeom>
          <a:solidFill>
            <a:srgbClr val="FDF0F1"/>
          </a:solidFill>
          <a:ln w="12700">
            <a:solidFill>
              <a:srgbClr val="C700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07008" y="395020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E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服务提供商（运营商）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80360" y="3931920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：推理 TCO </a:t>
            </a:r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−30~45%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——免每地域堆高配 GPU、边缘仅需低成本 Decode 硬件、低谷闲置算力变「夜间 Prefill 工厂」；</a:t>
            </a:r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：复用现有 CDN 机房与骨干专线，升级为「推理 CDN」新基础设施、开展 MaaS 服务；</a:t>
            </a:r>
            <a:pPr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C700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46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：博弈降级保障恶劣网络下 SLA 可承诺。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Cache CDN 立项汇报</dc:title>
  <dc:subject>PptxGenJS Presentation</dc:subject>
  <dc:creator>内部汇报</dc:creator>
  <cp:lastModifiedBy>内部汇报</cp:lastModifiedBy>
  <cp:revision>1</cp:revision>
  <dcterms:created xsi:type="dcterms:W3CDTF">2026-09-22T08:14:57Z</dcterms:created>
  <dcterms:modified xsi:type="dcterms:W3CDTF">2026-09-22T08:14:57Z</dcterms:modified>
</cp:coreProperties>
</file>